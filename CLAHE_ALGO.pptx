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ppt/media/image6.jpg" ContentType="image/jpeg"/>
  <Override PartName="/ppt/media/image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27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81" y="2344483"/>
            <a:ext cx="9094788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E539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962" y="4235196"/>
            <a:ext cx="7489825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E539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E539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987" y="1739455"/>
            <a:ext cx="4654391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0371" y="1739455"/>
            <a:ext cx="4654391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E539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48600" y="5941864"/>
            <a:ext cx="1514475" cy="66675"/>
          </a:xfrm>
          <a:custGeom>
            <a:avLst/>
            <a:gdLst/>
            <a:ahLst/>
            <a:cxnLst/>
            <a:rect l="l" t="t" r="r" b="b"/>
            <a:pathLst>
              <a:path w="1514475" h="66675">
                <a:moveTo>
                  <a:pt x="1514221" y="0"/>
                </a:moveTo>
                <a:lnTo>
                  <a:pt x="0" y="0"/>
                </a:lnTo>
                <a:lnTo>
                  <a:pt x="0" y="66250"/>
                </a:lnTo>
                <a:lnTo>
                  <a:pt x="1514221" y="66250"/>
                </a:lnTo>
                <a:lnTo>
                  <a:pt x="1514221" y="0"/>
                </a:lnTo>
                <a:close/>
              </a:path>
            </a:pathLst>
          </a:custGeom>
          <a:solidFill>
            <a:srgbClr val="2316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33500" y="5941821"/>
            <a:ext cx="6515100" cy="66675"/>
          </a:xfrm>
          <a:custGeom>
            <a:avLst/>
            <a:gdLst/>
            <a:ahLst/>
            <a:cxnLst/>
            <a:rect l="l" t="t" r="r" b="b"/>
            <a:pathLst>
              <a:path w="6515100" h="66675">
                <a:moveTo>
                  <a:pt x="6514719" y="0"/>
                </a:moveTo>
                <a:lnTo>
                  <a:pt x="0" y="0"/>
                </a:lnTo>
                <a:lnTo>
                  <a:pt x="0" y="66293"/>
                </a:lnTo>
                <a:lnTo>
                  <a:pt x="6404864" y="66293"/>
                </a:lnTo>
                <a:lnTo>
                  <a:pt x="6444107" y="44322"/>
                </a:lnTo>
                <a:lnTo>
                  <a:pt x="6476365" y="25272"/>
                </a:lnTo>
                <a:lnTo>
                  <a:pt x="6500368" y="10159"/>
                </a:lnTo>
                <a:lnTo>
                  <a:pt x="6514719" y="0"/>
                </a:lnTo>
                <a:close/>
              </a:path>
            </a:pathLst>
          </a:custGeom>
          <a:solidFill>
            <a:srgbClr val="1F63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86750" y="6084658"/>
            <a:ext cx="619125" cy="6094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5550" y="842327"/>
            <a:ext cx="8783955" cy="929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E539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7414" y="1456753"/>
            <a:ext cx="8944610" cy="4405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7915" y="7033450"/>
            <a:ext cx="3423920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987" y="7033450"/>
            <a:ext cx="246094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09489" y="6284323"/>
            <a:ext cx="156845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3500" y="4018292"/>
            <a:ext cx="8029575" cy="2771140"/>
            <a:chOff x="1333500" y="4018292"/>
            <a:chExt cx="8029575" cy="2771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0" y="4018292"/>
              <a:ext cx="8029575" cy="27710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7150" y="5579986"/>
              <a:ext cx="1352550" cy="10855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00" y="6008484"/>
              <a:ext cx="4410075" cy="6570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19300" y="1038210"/>
            <a:ext cx="66548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Satellite Image Enhancement using (CLAHE)</a:t>
            </a:r>
            <a:endParaRPr sz="42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1700" y="2203306"/>
            <a:ext cx="5784849" cy="3200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1305">
              <a:lnSpc>
                <a:spcPct val="100000"/>
              </a:lnSpc>
              <a:spcBef>
                <a:spcPts val="100"/>
              </a:spcBef>
            </a:pPr>
            <a:r>
              <a:rPr sz="2550" spc="-25" dirty="0">
                <a:latin typeface="Calibri"/>
                <a:cs typeface="Calibri"/>
              </a:rPr>
              <a:t>By</a:t>
            </a:r>
            <a:endParaRPr sz="2550" dirty="0">
              <a:latin typeface="Calibri"/>
              <a:cs typeface="Calibri"/>
            </a:endParaRPr>
          </a:p>
          <a:p>
            <a:pPr marL="32384" marR="5080" lvl="5" algn="l">
              <a:lnSpc>
                <a:spcPct val="100600"/>
              </a:lnSpc>
              <a:spcBef>
                <a:spcPts val="5"/>
              </a:spcBef>
            </a:pPr>
            <a:r>
              <a:rPr sz="2550" spc="-30" dirty="0">
                <a:latin typeface="Calibri"/>
                <a:cs typeface="Calibri"/>
              </a:rPr>
              <a:t>BT23ECI0</a:t>
            </a:r>
            <a:r>
              <a:rPr lang="en-IN" sz="2550" spc="-30" dirty="0">
                <a:latin typeface="Calibri"/>
                <a:cs typeface="Calibri"/>
              </a:rPr>
              <a:t>29</a:t>
            </a:r>
            <a:r>
              <a:rPr sz="2550" spc="-30" dirty="0">
                <a:latin typeface="Calibri"/>
                <a:cs typeface="Calibri"/>
              </a:rPr>
              <a:t>: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lang="en-IN" sz="2550" spc="-20" dirty="0">
                <a:latin typeface="Calibri"/>
                <a:cs typeface="Calibri"/>
              </a:rPr>
              <a:t>Harsh Yadav</a:t>
            </a:r>
            <a:r>
              <a:rPr sz="2550" spc="-20" dirty="0">
                <a:latin typeface="Calibri"/>
                <a:cs typeface="Calibri"/>
              </a:rPr>
              <a:t> </a:t>
            </a:r>
            <a:endParaRPr lang="en-IN" sz="2550" spc="-20" dirty="0">
              <a:latin typeface="Calibri"/>
              <a:cs typeface="Calibri"/>
            </a:endParaRPr>
          </a:p>
          <a:p>
            <a:pPr marL="32384" marR="5080" lvl="5" algn="l">
              <a:lnSpc>
                <a:spcPct val="100600"/>
              </a:lnSpc>
              <a:spcBef>
                <a:spcPts val="5"/>
              </a:spcBef>
            </a:pPr>
            <a:r>
              <a:rPr sz="2550" spc="-30" dirty="0">
                <a:latin typeface="Calibri"/>
                <a:cs typeface="Calibri"/>
              </a:rPr>
              <a:t>BT23ECI0</a:t>
            </a:r>
            <a:r>
              <a:rPr lang="en-IN" sz="2550" spc="-30" dirty="0">
                <a:latin typeface="Calibri"/>
                <a:cs typeface="Calibri"/>
              </a:rPr>
              <a:t>33</a:t>
            </a:r>
            <a:r>
              <a:rPr sz="2550" spc="-30" dirty="0">
                <a:latin typeface="Calibri"/>
                <a:cs typeface="Calibri"/>
              </a:rPr>
              <a:t>:</a:t>
            </a:r>
            <a:r>
              <a:rPr sz="2550" spc="-114" dirty="0">
                <a:latin typeface="Calibri"/>
                <a:cs typeface="Calibri"/>
              </a:rPr>
              <a:t> </a:t>
            </a:r>
            <a:r>
              <a:rPr lang="en-IN" sz="2550" spc="-10" dirty="0">
                <a:latin typeface="Calibri"/>
                <a:cs typeface="Calibri"/>
              </a:rPr>
              <a:t>Sandesh Singh</a:t>
            </a:r>
            <a:endParaRPr sz="2550" dirty="0">
              <a:latin typeface="Calibri"/>
              <a:cs typeface="Calibri"/>
            </a:endParaRPr>
          </a:p>
          <a:p>
            <a:pPr marL="12700" marR="162560" lvl="5" indent="19685" algn="l">
              <a:lnSpc>
                <a:spcPct val="103000"/>
              </a:lnSpc>
            </a:pPr>
            <a:r>
              <a:rPr sz="2550" spc="-30" dirty="0">
                <a:latin typeface="Calibri"/>
                <a:cs typeface="Calibri"/>
              </a:rPr>
              <a:t>BT23ECI0</a:t>
            </a:r>
            <a:r>
              <a:rPr lang="en-IN" sz="2550" spc="-30" dirty="0">
                <a:latin typeface="Calibri"/>
                <a:cs typeface="Calibri"/>
              </a:rPr>
              <a:t>34</a:t>
            </a:r>
            <a:r>
              <a:rPr sz="2550" spc="-30" dirty="0">
                <a:latin typeface="Calibri"/>
                <a:cs typeface="Calibri"/>
              </a:rPr>
              <a:t>:</a:t>
            </a:r>
            <a:r>
              <a:rPr sz="2550" spc="-60" dirty="0">
                <a:latin typeface="Calibri"/>
                <a:cs typeface="Calibri"/>
              </a:rPr>
              <a:t> </a:t>
            </a:r>
            <a:r>
              <a:rPr lang="en-IN" sz="2550" spc="-10" dirty="0">
                <a:latin typeface="Calibri"/>
                <a:cs typeface="Calibri"/>
              </a:rPr>
              <a:t>Satyam Gupta</a:t>
            </a:r>
          </a:p>
          <a:p>
            <a:pPr marL="12700" marR="162560" lvl="5" indent="19685" algn="l">
              <a:lnSpc>
                <a:spcPct val="103000"/>
              </a:lnSpc>
            </a:pPr>
            <a:r>
              <a:rPr sz="2550" spc="-30" dirty="0">
                <a:latin typeface="Calibri"/>
                <a:cs typeface="Calibri"/>
              </a:rPr>
              <a:t>BT23ECI04</a:t>
            </a:r>
            <a:r>
              <a:rPr lang="en-IN" sz="2550" spc="-30" dirty="0">
                <a:latin typeface="Calibri"/>
                <a:cs typeface="Calibri"/>
              </a:rPr>
              <a:t>7</a:t>
            </a:r>
            <a:r>
              <a:rPr sz="2550" spc="-30" dirty="0">
                <a:latin typeface="Calibri"/>
                <a:cs typeface="Calibri"/>
              </a:rPr>
              <a:t>:</a:t>
            </a:r>
            <a:r>
              <a:rPr sz="2550" spc="-95" dirty="0">
                <a:latin typeface="Calibri"/>
                <a:cs typeface="Calibri"/>
              </a:rPr>
              <a:t> </a:t>
            </a:r>
            <a:r>
              <a:rPr lang="en-IN" sz="2550" spc="-10" dirty="0">
                <a:latin typeface="Calibri"/>
                <a:cs typeface="Calibri"/>
              </a:rPr>
              <a:t>Krish Singh</a:t>
            </a:r>
          </a:p>
          <a:p>
            <a:pPr marL="12700" marR="162560" lvl="5" indent="19685" algn="l">
              <a:lnSpc>
                <a:spcPct val="103000"/>
              </a:lnSpc>
            </a:pPr>
            <a:r>
              <a:rPr lang="en-IN" sz="2550" spc="-30" dirty="0">
                <a:latin typeface="Calibri"/>
                <a:cs typeface="Calibri"/>
              </a:rPr>
              <a:t>BT23ECI049:</a:t>
            </a:r>
            <a:r>
              <a:rPr lang="en-IN" sz="2550" spc="-95" dirty="0">
                <a:latin typeface="Calibri"/>
                <a:cs typeface="Calibri"/>
              </a:rPr>
              <a:t> </a:t>
            </a:r>
            <a:r>
              <a:rPr lang="en-IN" sz="2550" spc="-10" dirty="0">
                <a:latin typeface="Calibri"/>
                <a:cs typeface="Calibri"/>
              </a:rPr>
              <a:t>Nitesh </a:t>
            </a:r>
            <a:r>
              <a:rPr lang="en-IN" sz="2550" spc="-10" dirty="0" err="1">
                <a:latin typeface="Calibri"/>
                <a:cs typeface="Calibri"/>
              </a:rPr>
              <a:t>Raghuwanshi</a:t>
            </a:r>
            <a:endParaRPr sz="2550" dirty="0">
              <a:latin typeface="Calibri"/>
              <a:cs typeface="Calibri"/>
            </a:endParaRPr>
          </a:p>
          <a:p>
            <a:pPr marL="102235" algn="l">
              <a:lnSpc>
                <a:spcPct val="100000"/>
              </a:lnSpc>
              <a:spcBef>
                <a:spcPts val="3095"/>
              </a:spcBef>
            </a:pPr>
            <a:r>
              <a:rPr sz="2550" spc="-10" dirty="0">
                <a:latin typeface="Calibri"/>
                <a:cs typeface="Calibri"/>
              </a:rPr>
              <a:t>Under</a:t>
            </a:r>
            <a:r>
              <a:rPr sz="2550" spc="-10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the</a:t>
            </a:r>
            <a:r>
              <a:rPr sz="2550" spc="-110" dirty="0">
                <a:latin typeface="Calibri"/>
                <a:cs typeface="Calibri"/>
              </a:rPr>
              <a:t> </a:t>
            </a:r>
            <a:r>
              <a:rPr sz="2550" spc="-25" dirty="0">
                <a:latin typeface="Calibri"/>
                <a:cs typeface="Calibri"/>
              </a:rPr>
              <a:t>Guidance</a:t>
            </a:r>
            <a:r>
              <a:rPr sz="2550" spc="-105" dirty="0">
                <a:latin typeface="Calibri"/>
                <a:cs typeface="Calibri"/>
              </a:rPr>
              <a:t> </a:t>
            </a:r>
            <a:r>
              <a:rPr sz="2550" spc="-25" dirty="0">
                <a:latin typeface="Calibri"/>
                <a:cs typeface="Calibri"/>
              </a:rPr>
              <a:t>of:</a:t>
            </a:r>
            <a:r>
              <a:rPr lang="en-IN" sz="2550" dirty="0">
                <a:latin typeface="Calibri"/>
                <a:cs typeface="Calibri"/>
              </a:rPr>
              <a:t> </a:t>
            </a:r>
            <a:r>
              <a:rPr sz="2550" b="1" spc="-10" dirty="0">
                <a:latin typeface="Calibri"/>
                <a:cs typeface="Calibri"/>
              </a:rPr>
              <a:t>Tapan</a:t>
            </a:r>
            <a:r>
              <a:rPr sz="2550" b="1" spc="-125" dirty="0">
                <a:latin typeface="Calibri"/>
                <a:cs typeface="Calibri"/>
              </a:rPr>
              <a:t> </a:t>
            </a:r>
            <a:r>
              <a:rPr sz="2550" b="1" spc="-20" dirty="0">
                <a:latin typeface="Calibri"/>
                <a:cs typeface="Calibri"/>
              </a:rPr>
              <a:t>Jain</a:t>
            </a:r>
            <a:endParaRPr sz="255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04887" y="737971"/>
            <a:ext cx="8696325" cy="6398895"/>
          </a:xfrm>
          <a:custGeom>
            <a:avLst/>
            <a:gdLst/>
            <a:ahLst/>
            <a:cxnLst/>
            <a:rect l="l" t="t" r="r" b="b"/>
            <a:pathLst>
              <a:path w="8696325" h="6398895">
                <a:moveTo>
                  <a:pt x="0" y="6398895"/>
                </a:moveTo>
                <a:lnTo>
                  <a:pt x="8696325" y="6398895"/>
                </a:lnTo>
                <a:lnTo>
                  <a:pt x="8696325" y="0"/>
                </a:lnTo>
                <a:lnTo>
                  <a:pt x="0" y="0"/>
                </a:lnTo>
                <a:lnTo>
                  <a:pt x="0" y="6398895"/>
                </a:lnTo>
                <a:close/>
              </a:path>
            </a:pathLst>
          </a:custGeom>
          <a:ln w="25407">
            <a:solidFill>
              <a:srgbClr val="1C33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963" rIns="0" bIns="0" rtlCol="0">
            <a:spAutoFit/>
          </a:bodyPr>
          <a:lstStyle/>
          <a:p>
            <a:pPr marL="2508250">
              <a:lnSpc>
                <a:spcPct val="100000"/>
              </a:lnSpc>
              <a:spcBef>
                <a:spcPts val="130"/>
              </a:spcBef>
            </a:pPr>
            <a:r>
              <a:rPr sz="3800" spc="-10" dirty="0"/>
              <a:t>Introduction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895985" y="1832609"/>
            <a:ext cx="9316720" cy="276165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Arial MT"/>
              </a:rPr>
              <a:t>Satellite images often suffer from </a:t>
            </a:r>
            <a:r>
              <a:rPr lang="en-IN" sz="2000" b="1" dirty="0">
                <a:latin typeface="Arial MT"/>
              </a:rPr>
              <a:t>low contrast, haze, and poor illumination</a:t>
            </a:r>
            <a:r>
              <a:rPr lang="en-IN" sz="2000" dirty="0">
                <a:latin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latin typeface="Arial MT"/>
              </a:rPr>
              <a:t>This affects their usability in </a:t>
            </a:r>
            <a:r>
              <a:rPr lang="en-IN" sz="1800" b="1" dirty="0">
                <a:latin typeface="Arial MT"/>
              </a:rPr>
              <a:t>remote sensing</a:t>
            </a:r>
            <a:r>
              <a:rPr lang="en-IN" sz="1800" dirty="0">
                <a:latin typeface="Arial MT"/>
              </a:rPr>
              <a:t> and </a:t>
            </a:r>
            <a:r>
              <a:rPr lang="en-IN" sz="1800" b="1" dirty="0">
                <a:latin typeface="Arial MT"/>
              </a:rPr>
              <a:t>geospatial analysis</a:t>
            </a:r>
            <a:r>
              <a:rPr lang="en-IN" sz="1800" dirty="0">
                <a:latin typeface="Arial MT"/>
              </a:rPr>
              <a:t>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latin typeface="Arial MT"/>
              </a:rPr>
              <a:t>To overcome this, </a:t>
            </a:r>
            <a:r>
              <a:rPr lang="en-IN" sz="1800" b="1" dirty="0">
                <a:latin typeface="Arial MT"/>
              </a:rPr>
              <a:t>CLAHE</a:t>
            </a:r>
            <a:r>
              <a:rPr lang="en-IN" sz="1800" dirty="0">
                <a:latin typeface="Arial MT"/>
              </a:rPr>
              <a:t> (Contrast Limited Adaptive Histogram Equalization) is used to enhance local contrast.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latin typeface="Arial MT"/>
              </a:rPr>
              <a:t>It makes hidden details like </a:t>
            </a:r>
            <a:r>
              <a:rPr lang="en-IN" sz="1800" b="1" dirty="0">
                <a:latin typeface="Arial MT"/>
              </a:rPr>
              <a:t>terrain, vegetation, and water bodies</a:t>
            </a:r>
            <a:r>
              <a:rPr lang="en-IN" sz="1800" dirty="0">
                <a:latin typeface="Arial MT"/>
              </a:rPr>
              <a:t> more visible.</a:t>
            </a:r>
          </a:p>
        </p:txBody>
      </p:sp>
      <p:sp>
        <p:nvSpPr>
          <p:cNvPr id="4" name="object 4"/>
          <p:cNvSpPr/>
          <p:nvPr/>
        </p:nvSpPr>
        <p:spPr>
          <a:xfrm>
            <a:off x="700087" y="661771"/>
            <a:ext cx="9763125" cy="6475095"/>
          </a:xfrm>
          <a:custGeom>
            <a:avLst/>
            <a:gdLst/>
            <a:ahLst/>
            <a:cxnLst/>
            <a:rect l="l" t="t" r="r" b="b"/>
            <a:pathLst>
              <a:path w="9763125" h="6475095">
                <a:moveTo>
                  <a:pt x="0" y="6475095"/>
                </a:moveTo>
                <a:lnTo>
                  <a:pt x="9763125" y="6475095"/>
                </a:lnTo>
                <a:lnTo>
                  <a:pt x="9763125" y="0"/>
                </a:lnTo>
                <a:lnTo>
                  <a:pt x="0" y="0"/>
                </a:lnTo>
                <a:lnTo>
                  <a:pt x="0" y="6475095"/>
                </a:lnTo>
                <a:close/>
              </a:path>
            </a:pathLst>
          </a:custGeom>
          <a:ln w="25407">
            <a:solidFill>
              <a:srgbClr val="1C33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863" y="2105025"/>
            <a:ext cx="8888095" cy="26315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 MT"/>
              </a:rPr>
              <a:t>Enhance visual quality of satellite images.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 MT"/>
              </a:rPr>
              <a:t>Improve </a:t>
            </a:r>
            <a:r>
              <a:rPr lang="en-IN" sz="2200" b="1" dirty="0">
                <a:latin typeface="Arial MT"/>
              </a:rPr>
              <a:t>local contrast</a:t>
            </a:r>
            <a:r>
              <a:rPr lang="en-IN" sz="2200" dirty="0">
                <a:latin typeface="Arial MT"/>
              </a:rPr>
              <a:t> without amplifying noise.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 MT"/>
              </a:rPr>
              <a:t>Reveal </a:t>
            </a:r>
            <a:r>
              <a:rPr lang="en-IN" sz="2200" b="1" dirty="0">
                <a:latin typeface="Arial MT"/>
              </a:rPr>
              <a:t>hidden surface and texture details</a:t>
            </a:r>
            <a:r>
              <a:rPr lang="en-IN" sz="2200" dirty="0">
                <a:latin typeface="Arial MT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 MT"/>
              </a:rPr>
              <a:t>Preprocess satellite data for </a:t>
            </a:r>
            <a:r>
              <a:rPr lang="en-IN" sz="2200" b="1" dirty="0">
                <a:latin typeface="Arial MT"/>
              </a:rPr>
              <a:t>classification</a:t>
            </a:r>
            <a:r>
              <a:rPr lang="en-IN" sz="2200" dirty="0">
                <a:latin typeface="Arial MT"/>
              </a:rPr>
              <a:t> and </a:t>
            </a:r>
            <a:r>
              <a:rPr lang="en-IN" sz="2200" b="1" dirty="0">
                <a:latin typeface="Arial MT"/>
              </a:rPr>
              <a:t>analysis</a:t>
            </a:r>
            <a:r>
              <a:rPr lang="en-IN" sz="2200" dirty="0">
                <a:latin typeface="Arial MT"/>
              </a:rPr>
              <a:t>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79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Literature</a:t>
            </a:r>
            <a:r>
              <a:rPr spc="-70" dirty="0"/>
              <a:t> </a:t>
            </a:r>
            <a:r>
              <a:rPr dirty="0"/>
              <a:t>Review</a:t>
            </a:r>
            <a:r>
              <a:rPr spc="-45" dirty="0"/>
              <a:t> 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700087" y="661771"/>
            <a:ext cx="9763125" cy="6475095"/>
          </a:xfrm>
          <a:custGeom>
            <a:avLst/>
            <a:gdLst/>
            <a:ahLst/>
            <a:cxnLst/>
            <a:rect l="l" t="t" r="r" b="b"/>
            <a:pathLst>
              <a:path w="9763125" h="6475095">
                <a:moveTo>
                  <a:pt x="0" y="6475095"/>
                </a:moveTo>
                <a:lnTo>
                  <a:pt x="9763125" y="6475095"/>
                </a:lnTo>
                <a:lnTo>
                  <a:pt x="9763125" y="0"/>
                </a:lnTo>
                <a:lnTo>
                  <a:pt x="0" y="0"/>
                </a:lnTo>
                <a:lnTo>
                  <a:pt x="0" y="6475095"/>
                </a:lnTo>
                <a:close/>
              </a:path>
            </a:pathLst>
          </a:custGeom>
          <a:ln w="25407">
            <a:solidFill>
              <a:srgbClr val="1C33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9890" y="979424"/>
            <a:ext cx="3070860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What is CLAHE?</a:t>
            </a:r>
            <a:endParaRPr sz="3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5984" y="1806828"/>
            <a:ext cx="8565515" cy="32919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Arial MT"/>
              </a:rPr>
              <a:t>CLAHE (Contrast Limited Adaptive Histogram Equalization)</a:t>
            </a:r>
            <a:r>
              <a:rPr lang="en-IN" sz="2200" dirty="0">
                <a:latin typeface="Arial MT"/>
              </a:rPr>
              <a:t> is an advanced image enhancement method.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 MT"/>
              </a:rPr>
              <a:t>It divides an image into small regions (tiles) and applies </a:t>
            </a:r>
            <a:r>
              <a:rPr lang="en-IN" sz="2200" b="1" dirty="0">
                <a:latin typeface="Arial MT"/>
              </a:rPr>
              <a:t>local histogram equalization</a:t>
            </a:r>
            <a:r>
              <a:rPr lang="en-IN" sz="2200" dirty="0">
                <a:latin typeface="Arial MT"/>
              </a:rPr>
              <a:t>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 MT"/>
              </a:rPr>
              <a:t>The “contrast limit” prevents over-amplification of noise.</a:t>
            </a:r>
          </a:p>
        </p:txBody>
      </p:sp>
      <p:sp>
        <p:nvSpPr>
          <p:cNvPr id="4" name="object 4"/>
          <p:cNvSpPr/>
          <p:nvPr/>
        </p:nvSpPr>
        <p:spPr>
          <a:xfrm>
            <a:off x="700087" y="661771"/>
            <a:ext cx="9763125" cy="6475095"/>
          </a:xfrm>
          <a:custGeom>
            <a:avLst/>
            <a:gdLst/>
            <a:ahLst/>
            <a:cxnLst/>
            <a:rect l="l" t="t" r="r" b="b"/>
            <a:pathLst>
              <a:path w="9763125" h="6475095">
                <a:moveTo>
                  <a:pt x="0" y="6475095"/>
                </a:moveTo>
                <a:lnTo>
                  <a:pt x="9763125" y="6475095"/>
                </a:lnTo>
                <a:lnTo>
                  <a:pt x="9763125" y="0"/>
                </a:lnTo>
                <a:lnTo>
                  <a:pt x="0" y="0"/>
                </a:lnTo>
                <a:lnTo>
                  <a:pt x="0" y="6475095"/>
                </a:lnTo>
                <a:close/>
              </a:path>
            </a:pathLst>
          </a:custGeom>
          <a:ln w="25407">
            <a:solidFill>
              <a:srgbClr val="1C33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5655" y="848931"/>
            <a:ext cx="5285105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Methodology / 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9952" y="1619313"/>
            <a:ext cx="8342948" cy="39697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Arial MT"/>
              </a:rPr>
              <a:t>Input:</a:t>
            </a:r>
            <a:r>
              <a:rPr lang="en-IN" sz="2200" dirty="0">
                <a:latin typeface="Arial MT"/>
              </a:rPr>
              <a:t> Raw satellite image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Arial MT"/>
              </a:rPr>
              <a:t>Convert:</a:t>
            </a:r>
            <a:r>
              <a:rPr lang="en-IN" sz="2200" dirty="0">
                <a:latin typeface="Arial MT"/>
              </a:rPr>
              <a:t> RGB → LAB </a:t>
            </a:r>
            <a:r>
              <a:rPr lang="en-IN" sz="2200" dirty="0" err="1">
                <a:latin typeface="Arial MT"/>
              </a:rPr>
              <a:t>color</a:t>
            </a:r>
            <a:r>
              <a:rPr lang="en-IN" sz="2200" dirty="0">
                <a:latin typeface="Arial MT"/>
              </a:rPr>
              <a:t> space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Arial MT"/>
              </a:rPr>
              <a:t>Apply CLAHE:</a:t>
            </a:r>
            <a:r>
              <a:rPr lang="en-IN" sz="2200" dirty="0">
                <a:latin typeface="Arial MT"/>
              </a:rPr>
              <a:t> on L (lightness) channel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Arial MT"/>
              </a:rPr>
              <a:t>Apply RGB Equalization:</a:t>
            </a:r>
            <a:r>
              <a:rPr lang="en-IN" sz="2200" dirty="0">
                <a:latin typeface="Arial MT"/>
              </a:rPr>
              <a:t> to normalize tone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Arial MT"/>
              </a:rPr>
              <a:t>Merge:</a:t>
            </a:r>
            <a:r>
              <a:rPr lang="en-IN" sz="2200" dirty="0">
                <a:latin typeface="Arial MT"/>
              </a:rPr>
              <a:t> Channels and reconstruct final image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Arial MT"/>
              </a:rPr>
              <a:t>Output:</a:t>
            </a:r>
            <a:r>
              <a:rPr lang="en-IN" sz="2200" dirty="0">
                <a:latin typeface="Arial MT"/>
              </a:rPr>
              <a:t> Enhanced satellite image</a:t>
            </a:r>
          </a:p>
        </p:txBody>
      </p:sp>
      <p:sp>
        <p:nvSpPr>
          <p:cNvPr id="4" name="object 4"/>
          <p:cNvSpPr/>
          <p:nvPr/>
        </p:nvSpPr>
        <p:spPr>
          <a:xfrm>
            <a:off x="700087" y="661771"/>
            <a:ext cx="9763125" cy="6475095"/>
          </a:xfrm>
          <a:custGeom>
            <a:avLst/>
            <a:gdLst/>
            <a:ahLst/>
            <a:cxnLst/>
            <a:rect l="l" t="t" r="r" b="b"/>
            <a:pathLst>
              <a:path w="9763125" h="6475095">
                <a:moveTo>
                  <a:pt x="0" y="6475095"/>
                </a:moveTo>
                <a:lnTo>
                  <a:pt x="9763125" y="6475095"/>
                </a:lnTo>
                <a:lnTo>
                  <a:pt x="9763125" y="0"/>
                </a:lnTo>
                <a:lnTo>
                  <a:pt x="0" y="0"/>
                </a:lnTo>
                <a:lnTo>
                  <a:pt x="0" y="6475095"/>
                </a:lnTo>
                <a:close/>
              </a:path>
            </a:pathLst>
          </a:custGeom>
          <a:ln w="25407">
            <a:solidFill>
              <a:srgbClr val="1C33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9890" y="842327"/>
            <a:ext cx="2237105" cy="608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800" spc="-10" dirty="0"/>
              <a:t>Conclusion</a:t>
            </a:r>
            <a:endParaRPr sz="3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7414" y="1456753"/>
            <a:ext cx="8944610" cy="32919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CLAHE improves </a:t>
            </a:r>
            <a:r>
              <a:rPr lang="en-IN" sz="2200" b="1" dirty="0"/>
              <a:t>local contrast</a:t>
            </a:r>
            <a:r>
              <a:rPr lang="en-IN" sz="2200" dirty="0"/>
              <a:t> while preserving fine details.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It is an effective </a:t>
            </a:r>
            <a:r>
              <a:rPr lang="en-IN" sz="2200" b="1" dirty="0"/>
              <a:t>preprocessing step</a:t>
            </a:r>
            <a:r>
              <a:rPr lang="en-IN" sz="2200" dirty="0"/>
              <a:t> for remote sensing and environmental analysis.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The enhanced images provide more </a:t>
            </a:r>
            <a:r>
              <a:rPr lang="en-IN" sz="2200" b="1" dirty="0"/>
              <a:t>meaningful visual information</a:t>
            </a:r>
            <a:r>
              <a:rPr lang="en-IN" sz="2200" dirty="0"/>
              <a:t> for further interpretation or model training.</a:t>
            </a:r>
          </a:p>
        </p:txBody>
      </p:sp>
      <p:sp>
        <p:nvSpPr>
          <p:cNvPr id="4" name="object 4"/>
          <p:cNvSpPr/>
          <p:nvPr/>
        </p:nvSpPr>
        <p:spPr>
          <a:xfrm>
            <a:off x="700087" y="661771"/>
            <a:ext cx="9763125" cy="6475095"/>
          </a:xfrm>
          <a:custGeom>
            <a:avLst/>
            <a:gdLst/>
            <a:ahLst/>
            <a:cxnLst/>
            <a:rect l="l" t="t" r="r" b="b"/>
            <a:pathLst>
              <a:path w="9763125" h="6475095">
                <a:moveTo>
                  <a:pt x="0" y="6475095"/>
                </a:moveTo>
                <a:lnTo>
                  <a:pt x="9763125" y="6475095"/>
                </a:lnTo>
                <a:lnTo>
                  <a:pt x="9763125" y="0"/>
                </a:lnTo>
                <a:lnTo>
                  <a:pt x="0" y="0"/>
                </a:lnTo>
                <a:lnTo>
                  <a:pt x="0" y="6475095"/>
                </a:lnTo>
                <a:close/>
              </a:path>
            </a:pathLst>
          </a:custGeom>
          <a:ln w="25407">
            <a:solidFill>
              <a:srgbClr val="1C33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259A-6CCE-930E-5824-BCEDF10C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13" y="581025"/>
            <a:ext cx="8783955" cy="553998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E038E-3639-B31A-8FC7-158583AD66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13" y="1512355"/>
            <a:ext cx="1981200" cy="198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6ED70-941B-FD1A-1792-00C17521E5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13" y="3705225"/>
            <a:ext cx="1981200" cy="198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3C7576-2E54-1706-3CF3-99B290AD4F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1511752"/>
            <a:ext cx="1981200" cy="198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6D8610-82C5-63B7-A076-0229B2FF2C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3705225"/>
            <a:ext cx="1981200" cy="198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BEFDC4-118B-DBB1-17A7-740C9C7581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00" y="1495425"/>
            <a:ext cx="1981200" cy="1981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EE2776-C628-CF84-BD0C-EBECE191F7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01" y="3705225"/>
            <a:ext cx="1981199" cy="19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76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850" y="2504313"/>
            <a:ext cx="5343525" cy="24185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50" y="6084658"/>
            <a:ext cx="619125" cy="60942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33500" y="5941821"/>
            <a:ext cx="8029575" cy="66675"/>
            <a:chOff x="1333500" y="5941821"/>
            <a:chExt cx="8029575" cy="66675"/>
          </a:xfrm>
        </p:grpSpPr>
        <p:sp>
          <p:nvSpPr>
            <p:cNvPr id="5" name="object 5"/>
            <p:cNvSpPr/>
            <p:nvPr/>
          </p:nvSpPr>
          <p:spPr>
            <a:xfrm>
              <a:off x="7848600" y="5941864"/>
              <a:ext cx="1514475" cy="66675"/>
            </a:xfrm>
            <a:custGeom>
              <a:avLst/>
              <a:gdLst/>
              <a:ahLst/>
              <a:cxnLst/>
              <a:rect l="l" t="t" r="r" b="b"/>
              <a:pathLst>
                <a:path w="1514475" h="66675">
                  <a:moveTo>
                    <a:pt x="1514221" y="0"/>
                  </a:moveTo>
                  <a:lnTo>
                    <a:pt x="0" y="0"/>
                  </a:lnTo>
                  <a:lnTo>
                    <a:pt x="0" y="66250"/>
                  </a:lnTo>
                  <a:lnTo>
                    <a:pt x="1514221" y="66250"/>
                  </a:lnTo>
                  <a:lnTo>
                    <a:pt x="1514221" y="0"/>
                  </a:lnTo>
                  <a:close/>
                </a:path>
              </a:pathLst>
            </a:custGeom>
            <a:solidFill>
              <a:srgbClr val="2316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3500" y="5941821"/>
              <a:ext cx="6515100" cy="66675"/>
            </a:xfrm>
            <a:custGeom>
              <a:avLst/>
              <a:gdLst/>
              <a:ahLst/>
              <a:cxnLst/>
              <a:rect l="l" t="t" r="r" b="b"/>
              <a:pathLst>
                <a:path w="6515100" h="66675">
                  <a:moveTo>
                    <a:pt x="6514719" y="0"/>
                  </a:moveTo>
                  <a:lnTo>
                    <a:pt x="0" y="0"/>
                  </a:lnTo>
                  <a:lnTo>
                    <a:pt x="0" y="66293"/>
                  </a:lnTo>
                  <a:lnTo>
                    <a:pt x="6404864" y="66293"/>
                  </a:lnTo>
                  <a:lnTo>
                    <a:pt x="6444107" y="44322"/>
                  </a:lnTo>
                  <a:lnTo>
                    <a:pt x="6476365" y="25272"/>
                  </a:lnTo>
                  <a:lnTo>
                    <a:pt x="6500368" y="10159"/>
                  </a:lnTo>
                  <a:lnTo>
                    <a:pt x="6514719" y="0"/>
                  </a:lnTo>
                  <a:close/>
                </a:path>
              </a:pathLst>
            </a:custGeom>
            <a:solidFill>
              <a:srgbClr val="1F6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33746" y="6284323"/>
            <a:ext cx="158750" cy="18859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50" spc="-25" dirty="0">
                <a:latin typeface="Calibri"/>
                <a:cs typeface="Calibri"/>
              </a:rPr>
              <a:t>16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263</Words>
  <Application>Microsoft Office PowerPoint</Application>
  <PresentationFormat>Custom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Verdana</vt:lpstr>
      <vt:lpstr>Wingdings</vt:lpstr>
      <vt:lpstr>Office Theme</vt:lpstr>
      <vt:lpstr>Satellite Image Enhancement using (CLAHE)</vt:lpstr>
      <vt:lpstr>Introduction</vt:lpstr>
      <vt:lpstr>Literature Review </vt:lpstr>
      <vt:lpstr>What is CLAHE?</vt:lpstr>
      <vt:lpstr>Methodology / Workflow</vt:lpstr>
      <vt:lpstr>Conclusion</vt:lpstr>
      <vt:lpstr>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SATYAM GUPTA</cp:lastModifiedBy>
  <cp:revision>3</cp:revision>
  <dcterms:created xsi:type="dcterms:W3CDTF">2025-11-12T10:19:24Z</dcterms:created>
  <dcterms:modified xsi:type="dcterms:W3CDTF">2025-11-12T11:19:01Z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LastSaved">
    <vt:filetime>2025-11-12T00:00:00Z</vt:filetime>
  </property>
</Properties>
</file>